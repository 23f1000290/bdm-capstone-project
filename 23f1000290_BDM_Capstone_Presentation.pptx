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828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C2A8"/>
                </a:solidFill>
              </a:rPr>
              <a:t>IIT MADRAS · BS DEGREE PROGRAM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38328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C2A8"/>
                </a:solidFill>
              </a:rPr>
              <a:t>OVERCOMING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OPERATIONAL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83280" y="157276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BOTTLENECKS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383280" y="224942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9BC2"/>
                </a:solidFill>
              </a:rPr>
              <a:t>in Laundry Services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530352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971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A Case of UClean · Sector 37D, Gurgaon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Aditi Saxena  </a:t>
            </a:r>
            <a:pPr indent="0" marL="0">
              <a:buNone/>
            </a:pPr>
            <a:r>
              <a:rPr lang="en-US" sz="1100" dirty="0">
                <a:solidFill>
                  <a:srgbClr val="8A9BC2"/>
                </a:solidFill>
              </a:rPr>
              <a:t>  |  Roll: 23f1000290  |  BDM Capstone Project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" y="411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UCLEAN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" y="1234440"/>
            <a:ext cx="20116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C2"/>
                </a:solidFill>
              </a:rPr>
              <a:t>India's Largest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C2"/>
                </a:solidFill>
              </a:rPr>
              <a:t>Laundry Chain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3931920"/>
            <a:ext cx="1737360" cy="86868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959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</a:rPr>
              <a:t>1,116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C2"/>
                </a:solidFill>
              </a:rPr>
              <a:t>Orders Analyzed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03520" y="3931920"/>
            <a:ext cx="1737360" cy="86868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0" y="3959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C2"/>
                </a:solidFill>
              </a:rPr>
              <a:t>Months of Data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23760" y="3931920"/>
            <a:ext cx="1737360" cy="86868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3959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C2"/>
                </a:solidFill>
              </a:rPr>
              <a:t>Problem Statements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ORGANIZATION 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37"/>
                </a:solidFill>
              </a:rPr>
              <a:t>Who is UClean?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2A8"/>
                </a:solidFill>
              </a:rPr>
              <a:t>Asia's #1 Laundry &amp; Dry-Cleaning Chain  ·  India's Largest B2C Franchise Network  ·  Founded 2016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931920" cy="3246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109728" cy="32461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44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</a:rPr>
              <a:t>UCLEAN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856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C2"/>
                </a:solidFill>
              </a:rPr>
              <a:t>India's Largest Laundry &amp; Dry-Cleaning Chain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67712"/>
            <a:ext cx="82296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494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Founded 2016  ·  Franchise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82296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249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B2C Laundry &amp; Dry-Cleaning Services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18688"/>
            <a:ext cx="82296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004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Residential + Commercial Clients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694176"/>
            <a:ext cx="82296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7588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Hotels, Hospitals, Corporate Offices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169664"/>
            <a:ext cx="82296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513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Subscription-Based Laundry Plans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298448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98448"/>
            <a:ext cx="202996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42646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</a:rPr>
              <a:t>Location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91456" y="17099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437"/>
                </a:solidFill>
              </a:rPr>
              <a:t>Sector 37D, Gurgaon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39712" y="1298448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39712" y="1298448"/>
            <a:ext cx="202996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142646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</a:rPr>
              <a:t>Opened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67728" y="17099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437"/>
                </a:solidFill>
              </a:rPr>
              <a:t>January 2024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2414016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414016"/>
            <a:ext cx="202996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25420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</a:rPr>
              <a:t>Monthly Revenue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91456" y="2825496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437"/>
                </a:solidFill>
              </a:rPr>
              <a:t>~₹1.5 Lakh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39712" y="2414016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39712" y="2414016"/>
            <a:ext cx="202996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25420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</a:rPr>
              <a:t>Staff Members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67728" y="2825496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437"/>
                </a:solidFill>
              </a:rPr>
              <a:t>5 Employees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663440" y="3529584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529584"/>
            <a:ext cx="202996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65760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</a:rPr>
              <a:t>Avg Monthly Customers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91456" y="394106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437"/>
                </a:solidFill>
              </a:rPr>
              <a:t>100–110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839712" y="3529584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39712" y="3529584"/>
            <a:ext cx="202996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365760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</a:rPr>
              <a:t>Current Status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67728" y="394106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437"/>
                </a:solidFill>
              </a:rPr>
              <a:t>Operating at Loss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837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Franchise Owner: Ritu Raj  ·  Ex-Salesforce Developer turned Entrepreneur  ·  Serving ₹1.5L/month revenue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Core Operational Challenges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2651760" cy="352044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34440"/>
            <a:ext cx="2651760" cy="914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89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2A8"/>
                </a:solidFill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4632" y="19933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Long Turnaround Time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&amp; Service Delays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81635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C2"/>
                </a:solidFill>
              </a:rPr>
              <a:t>Poor task distribution across 5 staff members causing delays. Only 37.9% orders delivered on time across 835 completed orders.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234440"/>
            <a:ext cx="2651760" cy="352044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234440"/>
            <a:ext cx="2651760" cy="91440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389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B9FE1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19272" y="19933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 Order Cancellations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&amp; Operational Disruptions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9272" y="281635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C2"/>
                </a:solidFill>
              </a:rPr>
              <a:t>25.18% cancellation rate across 1,116 orders. Peak months April–May saw cancellation rates of ~29%, driven by late pickups.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6752" y="1234440"/>
            <a:ext cx="2651760" cy="352044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16752" y="1234440"/>
            <a:ext cx="265176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389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53912" y="19933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Seasonal Demand Fluctuation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53912" y="281635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C2"/>
                </a:solidFill>
              </a:rPr>
              <a:t>Demand surged 14.9% in May then crashed 52.4% in June. Revenue gap of ₹3,84,645 between peak and trough months.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C2"/>
                </a:solidFill>
              </a:rPr>
              <a:t>Primary Data  ·  1,116 Orders  ·  April – July 2025  ·  Sector 37D, Gurgaon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DATA COLLECTION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37"/>
                </a:solidFill>
              </a:rPr>
              <a:t>How We Built the Evidence Base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09728" cy="3474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A8"/>
                </a:solidFill>
              </a:rPr>
              <a:t>DATASET PROFILE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3520440" cy="4572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</a:rPr>
              <a:t>1,116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Total Orders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3520440" cy="4572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21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</a:rPr>
              <a:t>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Data Variables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724912"/>
            <a:ext cx="3520440" cy="4572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523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Months (Apr–Jul '25)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255264"/>
            <a:ext cx="3520440" cy="4572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826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3328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Service Types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85616"/>
            <a:ext cx="3520440" cy="4572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130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</a:rPr>
              <a:t>₹150–₹1,500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168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Order Value Range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1188720"/>
            <a:ext cx="420624" cy="42062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609344"/>
            <a:ext cx="36576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</a:rPr>
              <a:t>Primary Data Collection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1472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680"/>
                </a:solidFill>
              </a:rPr>
              <a:t>Direct interaction with owner + physical receipts transcribed to Excel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103120"/>
            <a:ext cx="420624" cy="42062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2523744"/>
            <a:ext cx="36576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</a:rPr>
              <a:t>Data Cleaning &amp; Preprocessing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23865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680"/>
                </a:solidFill>
              </a:rPr>
              <a:t>Currency symbols removed · Date standardization · Duplicate removal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017520"/>
            <a:ext cx="420624" cy="42062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3438144"/>
            <a:ext cx="36576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</a:rPr>
              <a:t>Derived Variable: Delay (Days)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20640" y="33009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680"/>
                </a:solidFill>
              </a:rPr>
              <a:t>Actual Delivery Date − Expected Delivery Date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931920"/>
            <a:ext cx="420624" cy="42062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20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</a:rPr>
              <a:t>Data Analysis &amp; Visualization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20640" y="42153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680"/>
                </a:solidFill>
              </a:rPr>
              <a:t>Pivot Tables · Bar/Line Charts · Percentage &amp; Frequency Analysis in Excel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89120" y="4572000"/>
            <a:ext cx="4434840" cy="384048"/>
          </a:xfrm>
          <a:prstGeom prst="rect">
            <a:avLst/>
          </a:prstGeom>
          <a:solidFill>
            <a:srgbClr val="11205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46268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Formula:  Delay (Days) = Actual Delivery − Expected Delivery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C2A8"/>
                </a:solidFill>
              </a:rPr>
              <a:t>RESULTS &amp; FINDINGS  ·  PROBLEM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2062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</a:rPr>
              <a:t>Long Turnaround Time &amp; Service Delays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37.9%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On-Time Delivery Rate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</a:rPr>
              <a:t>62.1%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Orders Delayed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680"/>
                </a:solidFill>
              </a:rPr>
              <a:t>1.83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Avg Delay (Days)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1847088"/>
            <a:ext cx="491947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/home/claude/chart_delay_serv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892808"/>
            <a:ext cx="4809744" cy="2651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1792" y="4608576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680"/>
                </a:solidFill>
              </a:rPr>
              <a:t>X-Axis: Delay (Days)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7472" y="2395728"/>
            <a:ext cx="201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680"/>
                </a:solidFill>
              </a:rPr>
              <a:t>Y-Axis: Count of Orders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66928" y="4809744"/>
            <a:ext cx="4919472" cy="27432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B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48280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680"/>
                </a:solidFill>
              </a:rPr>
              <a:t>LEGEND: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371600" y="4846320"/>
            <a:ext cx="128016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27048" y="4828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680"/>
                </a:solidFill>
              </a:rPr>
              <a:t>Dry Clean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2057400" y="4846320"/>
            <a:ext cx="128016" cy="10972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12848" y="4828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680"/>
                </a:solidFill>
              </a:rPr>
              <a:t>Others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2743200" y="4846320"/>
            <a:ext cx="128016" cy="1097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98648" y="4828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680"/>
                </a:solidFill>
              </a:rPr>
              <a:t>Premium Laundry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3429000" y="4846320"/>
            <a:ext cx="128016" cy="109728"/>
          </a:xfrm>
          <a:prstGeom prst="rect">
            <a:avLst/>
          </a:prstGeom>
          <a:solidFill>
            <a:srgbClr val="264478"/>
          </a:solidFill>
          <a:ln w="12700">
            <a:solidFill>
              <a:srgbClr val="2644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84448" y="4828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680"/>
                </a:solidFill>
              </a:rPr>
              <a:t>Steam Iron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114800" y="4846320"/>
            <a:ext cx="128016" cy="109728"/>
          </a:xfrm>
          <a:prstGeom prst="rect">
            <a:avLst/>
          </a:prstGeom>
          <a:solidFill>
            <a:srgbClr val="4E6327"/>
          </a:solidFill>
          <a:ln w="12700">
            <a:solidFill>
              <a:srgbClr val="4E63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70248" y="4828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680"/>
                </a:solidFill>
              </a:rPr>
              <a:t>Wash &amp; Fold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800600" y="4846320"/>
            <a:ext cx="128016" cy="10972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56048" y="4828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680"/>
                </a:solidFill>
              </a:rPr>
              <a:t>Wash &amp; Iron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650992" y="1847088"/>
            <a:ext cx="3154680" cy="29718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650992" y="1847088"/>
            <a:ext cx="315468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60720" y="1956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C2A8"/>
                </a:solidFill>
              </a:rPr>
              <a:t>KEY FINDINGS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760720" y="2304288"/>
            <a:ext cx="73152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22860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</a:rPr>
              <a:t>62.1%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of 835 completed orders were delayed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760720" y="2688336"/>
            <a:ext cx="73152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26700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</a:rPr>
              <a:t>2–3 Days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most common delay band across all service types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760720" y="3072384"/>
            <a:ext cx="73152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07024" y="30540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</a:rPr>
              <a:t>Wash &amp; Fold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highest volume at 0-day (on-time) AND highest at 3-day delays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60720" y="3456432"/>
            <a:ext cx="73152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07024" y="34381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</a:rPr>
              <a:t>Dry Clean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largest group with 5-day severe delays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760720" y="3840480"/>
            <a:ext cx="73152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07024" y="38221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</a:rPr>
              <a:t>166–204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orders handled per staff — uneven workload distribution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760720" y="4224528"/>
            <a:ext cx="73152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07024" y="4206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</a:rPr>
              <a:t>No dynamic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order reassignment mechanism existed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365760" y="5065776"/>
            <a:ext cx="8412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9BC2"/>
                </a:solidFill>
              </a:rPr>
              <a:t>Chart: Delay(Days) vs Count of Orders by Service Type  ·  Source: Primary Data — Excel Pivot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B9FE1"/>
                </a:solidFill>
              </a:rPr>
              <a:t>RESULTS &amp; FINDINGS  ·  PROBLEM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2062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</a:rPr>
              <a:t>High Order Cancellations &amp; Disruptions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25.18%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Overall Cancellation Rate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</a:rPr>
              <a:t>281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Orders Cancelled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</a:rPr>
              <a:t>₹64,000+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Recoverable 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1847088"/>
            <a:ext cx="491947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/home/claude/chart_cancel_r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892808"/>
            <a:ext cx="4809744" cy="2651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1792" y="4608576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680"/>
                </a:solidFill>
              </a:rPr>
              <a:t>X-Axis: Month (Apr–Jul 2025)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7472" y="2395728"/>
            <a:ext cx="201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680"/>
                </a:solidFill>
              </a:rPr>
              <a:t>Y-Axis: Count of Orders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66928" y="4809744"/>
            <a:ext cx="4919472" cy="27432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B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48280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680"/>
                </a:solidFill>
              </a:rPr>
              <a:t>LEGEND: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371600" y="4846320"/>
            <a:ext cx="128016" cy="109728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27048" y="48280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680"/>
                </a:solidFill>
              </a:rPr>
              <a:t>Inventory Shortage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606040" y="4846320"/>
            <a:ext cx="128016" cy="10972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61488" y="48280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680"/>
                </a:solidFill>
              </a:rPr>
              <a:t>Late Pickup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840480" y="4846320"/>
            <a:ext cx="128016" cy="1097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95928" y="48280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680"/>
                </a:solidFill>
              </a:rPr>
              <a:t>Staff Shortage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650992" y="1847088"/>
            <a:ext cx="3154680" cy="29718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50992" y="1847088"/>
            <a:ext cx="3154680" cy="73152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1956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B9FE1"/>
                </a:solidFill>
              </a:rPr>
              <a:t>KEY FINDINGS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760720" y="2304288"/>
            <a:ext cx="73152" cy="237744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07024" y="22860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9FE1"/>
                </a:solidFill>
              </a:rPr>
              <a:t>63.3%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cancellations caused by Late Pickup (178 of 281)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760720" y="2688336"/>
            <a:ext cx="73152" cy="237744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07024" y="26700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9FE1"/>
                </a:solidFill>
              </a:rPr>
              <a:t>22.1%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caused by Staff Shortage (62 orders)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760720" y="3072384"/>
            <a:ext cx="73152" cy="237744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30540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9FE1"/>
                </a:solidFill>
              </a:rPr>
              <a:t>14.6%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caused by Inventory Shortage (41 orders)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760720" y="3456432"/>
            <a:ext cx="73152" cy="237744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34381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9FE1"/>
                </a:solidFill>
              </a:rPr>
              <a:t>April–May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highest cancellation months (~29% rate)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760720" y="3840480"/>
            <a:ext cx="73152" cy="237744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38221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9FE1"/>
                </a:solidFill>
              </a:rPr>
              <a:t>July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lowest at 15.46% — drops when demand falls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760720" y="4224528"/>
            <a:ext cx="73152" cy="237744"/>
          </a:xfrm>
          <a:prstGeom prst="rect">
            <a:avLst/>
          </a:prstGeom>
          <a:solidFill>
            <a:srgbClr val="4B9FE1"/>
          </a:solidFill>
          <a:ln w="12700">
            <a:solidFill>
              <a:srgbClr val="4B9F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07024" y="4206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9FE1"/>
                </a:solidFill>
              </a:rPr>
              <a:t>1 in 4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orders placed were never completed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65760" y="5065776"/>
            <a:ext cx="8412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9BC2"/>
                </a:solidFill>
              </a:rPr>
              <a:t>Chart: Cancellation Reasons by Month (Apr–Jul 2025)  ·  Source: Primary Data — Excel Pivot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78BFA"/>
                </a:solidFill>
              </a:rPr>
              <a:t>RESULTS &amp; FINDINGS  ·  PROBLEM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2062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</a:rPr>
              <a:t>Seasonal Demand &amp; Revenue Fluctuation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</a:rPr>
              <a:t>+14.9%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Apr→May Orders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−52.4%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May→Jun Drop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87552"/>
            <a:ext cx="2606040" cy="749808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024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</a:rPr>
              <a:t>₹3.84L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C2"/>
                </a:solidFill>
              </a:rPr>
              <a:t>Peak-to-Trough Gap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1847088"/>
            <a:ext cx="491947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/home/claude/chart_service_seaso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892808"/>
            <a:ext cx="4809744" cy="2651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1792" y="4608576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680"/>
                </a:solidFill>
              </a:rPr>
              <a:t>X-Axis: Service Type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7472" y="2395728"/>
            <a:ext cx="201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680"/>
                </a:solidFill>
              </a:rPr>
              <a:t>Y-Axis: Count of Orders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66928" y="4809744"/>
            <a:ext cx="4919472" cy="27432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B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48280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680"/>
                </a:solidFill>
              </a:rPr>
              <a:t>LEGEND: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371600" y="4846320"/>
            <a:ext cx="128016" cy="1097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27048" y="48280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680"/>
                </a:solidFill>
              </a:rPr>
              <a:t>April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286000" y="4846320"/>
            <a:ext cx="128016" cy="10972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41448" y="48280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680"/>
                </a:solidFill>
              </a:rPr>
              <a:t>May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200400" y="4846320"/>
            <a:ext cx="128016" cy="1097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55848" y="48280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680"/>
                </a:solidFill>
              </a:rPr>
              <a:t>June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114800" y="4846320"/>
            <a:ext cx="128016" cy="109728"/>
          </a:xfrm>
          <a:prstGeom prst="rect">
            <a:avLst/>
          </a:prstGeom>
          <a:solidFill>
            <a:srgbClr val="264478"/>
          </a:solidFill>
          <a:ln w="12700">
            <a:solidFill>
              <a:srgbClr val="2644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70248" y="48280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680"/>
                </a:solidFill>
              </a:rPr>
              <a:t>July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650992" y="1847088"/>
            <a:ext cx="3154680" cy="29718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50992" y="1847088"/>
            <a:ext cx="315468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1956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78BFA"/>
                </a:solidFill>
              </a:rPr>
              <a:t>KEY FINDINGS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760720" y="2304288"/>
            <a:ext cx="73152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07024" y="22860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Wash &amp; Fold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peaked at 78 orders in May — highest volume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760720" y="2688336"/>
            <a:ext cx="73152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26700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All services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dropped sharply in June–July off-season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760720" y="3072384"/>
            <a:ext cx="73152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30540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May peak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393 total orders — 14.9% above April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760720" y="3456432"/>
            <a:ext cx="73152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34381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June crash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187 orders — 52.4% drop from May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760720" y="3840480"/>
            <a:ext cx="73152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07024" y="38221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Apr+May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= 65.8% of all 1,116 orders combined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60720" y="4224528"/>
            <a:ext cx="73152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07024" y="4206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Revenue gap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₹3.84L between peak (May) and trough (June)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65760" y="5065776"/>
            <a:ext cx="8412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9BC2"/>
                </a:solidFill>
              </a:rPr>
              <a:t>Chart: Service-wise Order Volume by Month (Apr–Jul 2025)  ·  Source: Primary Data — Excel Pivot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Three Problems Are One Problem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0" y="1170432"/>
            <a:ext cx="2194560" cy="8046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17043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437"/>
                </a:solidFill>
              </a:rPr>
              <a:t>FIXED CAPACITY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437"/>
                </a:solidFill>
              </a:rPr>
              <a:t>vs.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437"/>
                </a:solidFill>
              </a:rPr>
              <a:t>FLUCTUATING DEMAND PATTERNS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2103120"/>
            <a:ext cx="2286000" cy="265176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2103120"/>
            <a:ext cx="22860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</a:rPr>
              <a:t>PS1: Delays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91440" cy="9144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243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62.1% of 835 orders delayed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91440" cy="9144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9981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Avg delay: 1.83 days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91440" cy="9144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753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Staff workload imbalance (166–204 orders)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78224"/>
            <a:ext cx="91440" cy="9144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507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Delays increase during peak months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0" y="2103120"/>
            <a:ext cx="2286000" cy="265176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103120"/>
            <a:ext cx="2286000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PS2: Cancellations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84448" y="2651760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6243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25.18% cancellation rate (~1 in 4 orders)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84448" y="3127248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09981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Late pickup = 63.3% of cancellations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84448" y="3602736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5753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Staff shortage contributes to delays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84448" y="4078224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40507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Lower cancellations in off-season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01968" y="2103120"/>
            <a:ext cx="2286000" cy="265176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01968" y="2103120"/>
            <a:ext cx="2286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11696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PS3: Seasonality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11696" y="265176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26243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Apr–May = 65.8% of all orders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11696" y="312724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309981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Significant drop in Jun–Jul (low demand)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11696" y="360273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288" y="35753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Revenue gap of ₹3.84L between peak and low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11696" y="407822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40507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Fixed staffing despite demand variation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33472" y="1508760"/>
            <a:ext cx="82296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87568" y="1508760"/>
            <a:ext cx="82296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C2A8"/>
                </a:solidFill>
              </a:rPr>
              <a:t>All three bottlenecks share one root cause: operational capacity does not scale with seasonal demand.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37"/>
                </a:solidFill>
              </a:rPr>
              <a:t>Data-Driven Action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651760" cy="36118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265176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D6D"/>
                </a:solidFill>
              </a:rPr>
              <a:t>PS1 · Delays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Optimize Turnaround 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Workload Distribution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73152" cy="20116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0756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Track turnaround time (TAT) to identify delayed orders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73152" cy="20116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5328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Identify workload imbalance across staff members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73152" cy="20116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9900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Redistribute orders to reduce overload on specific staff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73152" cy="20116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4472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Hire 1–2 temporary workers during peak months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2423160" cy="347472"/>
          </a:xfrm>
          <a:prstGeom prst="rect">
            <a:avLst/>
          </a:prstGeom>
          <a:solidFill>
            <a:srgbClr val="14206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</a:rPr>
              <a:t>Target: Improve on-time delivery (currently 37.9%)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82112" y="1143000"/>
            <a:ext cx="2651760" cy="36118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1143000"/>
            <a:ext cx="2651760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2344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347"/>
                </a:solidFill>
              </a:rPr>
              <a:t>PS2 · Cancellations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14630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Reduce Cancellations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Improve Pickup Efficiency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084832"/>
            <a:ext cx="73152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20756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Analyze cancellation trends across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542032"/>
            <a:ext cx="73152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25328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Capacity-based booking limits (don't oversell)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999232"/>
            <a:ext cx="73152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29900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Improve pickup scheduling and route planning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456432"/>
            <a:ext cx="73152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34472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Allocate dedicated staff for pickups during peak demand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4279392"/>
            <a:ext cx="2423160" cy="347472"/>
          </a:xfrm>
          <a:prstGeom prst="rect">
            <a:avLst/>
          </a:prstGeom>
          <a:solidFill>
            <a:srgbClr val="142060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Target: Reduce cancellations (currently 25.18%)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16752" y="1143000"/>
            <a:ext cx="2651760" cy="36118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16752" y="1143000"/>
            <a:ext cx="265176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2344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</a:rPr>
              <a:t>PS3 · Seasonality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14630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 Demand Fluctuation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Plan Capacity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2084832"/>
            <a:ext cx="73152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20756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Identify peak months (Apr–May) vs low-demand (Jun–Jul)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542032"/>
            <a:ext cx="73152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25328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Plan staff allocation based on demand patterns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2999232"/>
            <a:ext cx="73152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29900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Introduce off-season offers to stabilize demand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3456432"/>
            <a:ext cx="73152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4472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Focus on high-demand services during peak periods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4279392"/>
            <a:ext cx="2423160" cy="347472"/>
          </a:xfrm>
          <a:prstGeom prst="rect">
            <a:avLst/>
          </a:prstGeom>
          <a:solidFill>
            <a:srgbClr val="14206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Target: Stabilize revenue across months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CONCLUSION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Data to Sustainable Growth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937760" cy="96012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109728" cy="9601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70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Key Finding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All 3 bottlenecks share one root: fixed capacity vs. fluctuating demand. Peak months create workload pressure leading to delays and cancellations.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240280"/>
            <a:ext cx="4937760" cy="96012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240280"/>
            <a:ext cx="109728" cy="9601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4D6D"/>
                </a:solidFill>
              </a:rPr>
              <a:t>Biggest Win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5146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Fixing late pickup (63.3% of cancellations) could recover ₹64,000+ in lost revenue immediately.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337560"/>
            <a:ext cx="4937760" cy="96012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3337560"/>
            <a:ext cx="109728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364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78BFA"/>
                </a:solidFill>
              </a:rPr>
              <a:t>Data Impact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1,116 order records revealed 62.1% delay rate and 25.18% cancellation rate. These issues are data-supported and can be improved with better planning.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1143000"/>
            <a:ext cx="3246120" cy="329184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1143000"/>
            <a:ext cx="324612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1252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A8"/>
                </a:solidFill>
              </a:rPr>
              <a:t>NEXT STEPS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87568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</a:rPr>
              <a:t>1.  Implement daily TAT tracking 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87568" y="2103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</a:rPr>
              <a:t>2.  Improve pickup scheduling and route planning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87568" y="2578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3.  Apply capacity-based order management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87568" y="30540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4.  Plan staffing based on demand trends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87568" y="3529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5.  Hire temporary staff during peak months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87568" y="4005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6.  Introduce off-season offers to stabilize demand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055"/>
          </a:solidFill>
          <a:ln w="12700">
            <a:solidFill>
              <a:srgbClr val="1120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Aditi Saxena  </a:t>
            </a:r>
            <a:pPr algn="ctr" indent="0" marL="0">
              <a:buNone/>
            </a:pPr>
            <a:r>
              <a:rPr lang="en-US" sz="1000" dirty="0">
                <a:solidFill>
                  <a:srgbClr val="8A9BC2"/>
                </a:solidFill>
              </a:rPr>
              <a:t>  ·  Roll: 23f1000290  ·  BDM Capstone  ·  IIT Madras Online BS Degree Program  ·  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UClean BDM Capstone - Aditi Saxena</dc:title>
  <dc:subject>PptxGenJS Presentation</dc:subject>
  <dc:creator>PptxGenJS</dc:creator>
  <cp:lastModifiedBy>PptxGenJS</cp:lastModifiedBy>
  <cp:revision>1</cp:revision>
  <dcterms:created xsi:type="dcterms:W3CDTF">2026-04-17T10:51:18Z</dcterms:created>
  <dcterms:modified xsi:type="dcterms:W3CDTF">2026-04-17T10:51:18Z</dcterms:modified>
</cp:coreProperties>
</file>